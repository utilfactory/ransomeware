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ba3437455474a" /><Relationship Type="http://schemas.openxmlformats.org/officeDocument/2006/relationships/extended-properties" Target="/docProps/app.xml" Id="R103b144a6ccc482a" /><Relationship Type="http://schemas.openxmlformats.org/officeDocument/2006/relationships/officeDocument" Target="/ppt/presentation.xml" Id="R74cc47bc2a36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77fe524f04f82"/>
  </p:sldMasterIdLst>
  <p:notesMasterIdLst>
    <p:notesMasterId xmlns:r="http://schemas.openxmlformats.org/officeDocument/2006/relationships" r:id="Rf43b13490d254e4c"/>
  </p:notesMasterIdLst>
  <p:sldIdLst>
    <p:sldId xmlns:r="http://schemas.openxmlformats.org/officeDocument/2006/relationships" id="256" r:id="Rf8ac0ad983d14ea4"/>
    <p:sldId xmlns:r="http://schemas.openxmlformats.org/officeDocument/2006/relationships" id="257" r:id="Rddfc394dd968425c"/>
    <p:sldId xmlns:r="http://schemas.openxmlformats.org/officeDocument/2006/relationships" id="258" r:id="R8866fd80fb9d4767"/>
    <p:sldId xmlns:r="http://schemas.openxmlformats.org/officeDocument/2006/relationships" id="259" r:id="R1c90bc369ee140bf"/>
    <p:sldId xmlns:r="http://schemas.openxmlformats.org/officeDocument/2006/relationships" id="260" r:id="R6db73a8b0e2347a6"/>
    <p:sldId xmlns:r="http://schemas.openxmlformats.org/officeDocument/2006/relationships" id="261" r:id="R0d6d0a316e604cc2"/>
    <p:sldId xmlns:r="http://schemas.openxmlformats.org/officeDocument/2006/relationships" id="262" r:id="Rc85deb59b48f4dc8"/>
    <p:sldId xmlns:r="http://schemas.openxmlformats.org/officeDocument/2006/relationships" id="263" r:id="R26af6ac00acf472a"/>
    <p:sldId xmlns:r="http://schemas.openxmlformats.org/officeDocument/2006/relationships" id="264" r:id="R159682f2bceb49dd"/>
    <p:sldId xmlns:r="http://schemas.openxmlformats.org/officeDocument/2006/relationships" id="265" r:id="R8a93a05a120f4598"/>
    <p:sldId xmlns:r="http://schemas.openxmlformats.org/officeDocument/2006/relationships" id="266" r:id="R88363e7b2bf54d7d"/>
    <p:sldId xmlns:r="http://schemas.openxmlformats.org/officeDocument/2006/relationships" id="267" r:id="R02168f35cec646f6"/>
    <p:sldId xmlns:r="http://schemas.openxmlformats.org/officeDocument/2006/relationships" id="268" r:id="R4d7552ad73894e25"/>
    <p:sldId xmlns:r="http://schemas.openxmlformats.org/officeDocument/2006/relationships" id="269" r:id="Rd208e96f5a9e4594"/>
    <p:sldId xmlns:r="http://schemas.openxmlformats.org/officeDocument/2006/relationships" id="270" r:id="R229481b3a07c4d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7bbe1113d42ad" /><Relationship Type="http://schemas.openxmlformats.org/officeDocument/2006/relationships/slideMaster" Target="/ppt/slideMasters/slideMaster1.xml" Id="R22577fe524f04f82" /><Relationship Type="http://schemas.openxmlformats.org/officeDocument/2006/relationships/notesMaster" Target="/ppt/notesMasters/notesMaster1.xml" Id="Rf43b13490d254e4c" /><Relationship Type="http://schemas.openxmlformats.org/officeDocument/2006/relationships/presProps" Target="/ppt/presProps.xml" Id="R6dea0bbb5aac4515" /><Relationship Type="http://schemas.openxmlformats.org/officeDocument/2006/relationships/tableStyles" Target="/ppt/tableStyles.xml" Id="Rd6ef55a2aa684634" /><Relationship Type="http://schemas.openxmlformats.org/officeDocument/2006/relationships/slide" Target="/ppt/slides/slide1.xml" Id="Rf8ac0ad983d14ea4" /><Relationship Type="http://schemas.openxmlformats.org/officeDocument/2006/relationships/slide" Target="/ppt/slides/slide2.xml" Id="Rddfc394dd968425c" /><Relationship Type="http://schemas.openxmlformats.org/officeDocument/2006/relationships/slide" Target="/ppt/slides/slide3.xml" Id="R8866fd80fb9d4767" /><Relationship Type="http://schemas.openxmlformats.org/officeDocument/2006/relationships/slide" Target="/ppt/slides/slide4.xml" Id="R1c90bc369ee140bf" /><Relationship Type="http://schemas.openxmlformats.org/officeDocument/2006/relationships/slide" Target="/ppt/slides/slide5.xml" Id="R6db73a8b0e2347a6" /><Relationship Type="http://schemas.openxmlformats.org/officeDocument/2006/relationships/slide" Target="/ppt/slides/slide6.xml" Id="R0d6d0a316e604cc2" /><Relationship Type="http://schemas.openxmlformats.org/officeDocument/2006/relationships/slide" Target="/ppt/slides/slide7.xml" Id="Rc85deb59b48f4dc8" /><Relationship Type="http://schemas.openxmlformats.org/officeDocument/2006/relationships/slide" Target="/ppt/slides/slide8.xml" Id="R26af6ac00acf472a" /><Relationship Type="http://schemas.openxmlformats.org/officeDocument/2006/relationships/slide" Target="/ppt/slides/slide9.xml" Id="R159682f2bceb49dd" /><Relationship Type="http://schemas.openxmlformats.org/officeDocument/2006/relationships/slide" Target="/ppt/slides/slide10.xml" Id="R8a93a05a120f4598" /><Relationship Type="http://schemas.openxmlformats.org/officeDocument/2006/relationships/slide" Target="/ppt/slides/slide11.xml" Id="R88363e7b2bf54d7d" /><Relationship Type="http://schemas.openxmlformats.org/officeDocument/2006/relationships/slide" Target="/ppt/slides/slide12.xml" Id="R02168f35cec646f6" /><Relationship Type="http://schemas.openxmlformats.org/officeDocument/2006/relationships/slide" Target="/ppt/slides/slide13.xml" Id="R4d7552ad73894e25" /><Relationship Type="http://schemas.openxmlformats.org/officeDocument/2006/relationships/slide" Target="/ppt/slides/slide14.xml" Id="Rd208e96f5a9e4594" /><Relationship Type="http://schemas.openxmlformats.org/officeDocument/2006/relationships/slide" Target="/ppt/slides/slide15.xml" Id="R229481b3a07c4d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cf208dc782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99bc6452b47a3" /><Relationship Type="http://schemas.openxmlformats.org/officeDocument/2006/relationships/notesMaster" Target="/ppt/notesMasters/notesMaster1.xml" Id="R285465f63084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7ef9be7e9c4a47" /><Relationship Type="http://schemas.openxmlformats.org/officeDocument/2006/relationships/notesMaster" Target="/ppt/notesMasters/notesMaster1.xml" Id="Radffbbb21b03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dcc27c9ad643ec" /><Relationship Type="http://schemas.openxmlformats.org/officeDocument/2006/relationships/notesMaster" Target="/ppt/notesMasters/notesMaster1.xml" Id="R75cada794cc14e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eca27593354964" /><Relationship Type="http://schemas.openxmlformats.org/officeDocument/2006/relationships/notesMaster" Target="/ppt/notesMasters/notesMaster1.xml" Id="R6001a35475644a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c2a0138504aa9" /><Relationship Type="http://schemas.openxmlformats.org/officeDocument/2006/relationships/notesMaster" Target="/ppt/notesMasters/notesMaster1.xml" Id="Rbd43eef73e3b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403baf040441b" /><Relationship Type="http://schemas.openxmlformats.org/officeDocument/2006/relationships/notesMaster" Target="/ppt/notesMasters/notesMaster1.xml" Id="Re7de0dd78ae543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bb042f29c4a7c" /><Relationship Type="http://schemas.openxmlformats.org/officeDocument/2006/relationships/notesMaster" Target="/ppt/notesMasters/notesMaster1.xml" Id="R45244ae641f04c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7e32dcb3e403f" /><Relationship Type="http://schemas.openxmlformats.org/officeDocument/2006/relationships/notesMaster" Target="/ppt/notesMasters/notesMaster1.xml" Id="Rc1e49f06721946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9cb90a15ad4194" /><Relationship Type="http://schemas.openxmlformats.org/officeDocument/2006/relationships/notesMaster" Target="/ppt/notesMasters/notesMaster1.xml" Id="Re8d2f43f962941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c99dd93fbe490c" /><Relationship Type="http://schemas.openxmlformats.org/officeDocument/2006/relationships/notesMaster" Target="/ppt/notesMasters/notesMaster1.xml" Id="R79e786446485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a0282faf543c8" /><Relationship Type="http://schemas.openxmlformats.org/officeDocument/2006/relationships/notesMaster" Target="/ppt/notesMasters/notesMaster1.xml" Id="R363d48baa15b46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3c77ae92ab4120" /><Relationship Type="http://schemas.openxmlformats.org/officeDocument/2006/relationships/notesMaster" Target="/ppt/notesMasters/notesMaster1.xml" Id="R8e5495d3549046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feed3b01be421f" /><Relationship Type="http://schemas.openxmlformats.org/officeDocument/2006/relationships/notesMaster" Target="/ppt/notesMasters/notesMaster1.xml" Id="R10abcbef16ca44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2aaa1b9ceb456f" /><Relationship Type="http://schemas.openxmlformats.org/officeDocument/2006/relationships/notesMaster" Target="/ppt/notesMasters/notesMaster1.xml" Id="R380c3bbfccc24d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55829f29a94dfe" /><Relationship Type="http://schemas.openxmlformats.org/officeDocument/2006/relationships/notesMaster" Target="/ppt/notesMasters/notesMaster1.xml" Id="R1c54a438b9bd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파일필터.png, 프로세스필터.png. 각 화면의 버튼 동작은 현재 저장소 구현과 대조했다.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Win11 VM 캡처, 2026-09-10.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설명: G:/GitCode/Ransomeware/RansomUtilFactory.UI/MainWindow.xaml.cs, MainWindow.Process.cs, ProcessEventLog.cs. 캡처에 없는 테스트 결과는 실증으로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dccdc41ed41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fc830a7b84982" /><Relationship Type="http://schemas.openxmlformats.org/officeDocument/2006/relationships/slideLayout" Target="/ppt/slideLayouts/slideLayout1.xml" Id="R21e4ac39415741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e4ac394157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409929adf4206" /><Relationship Type="http://schemas.openxmlformats.org/officeDocument/2006/relationships/notesSlide" Target="/ppt/notesSlides/notesSlide1.xml" Id="R6006b0185097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0816b9494f62" /><Relationship Type="http://schemas.openxmlformats.org/officeDocument/2006/relationships/notesSlide" Target="/ppt/notesSlides/notesSlide2.xml" Id="Rd3bbbeb11d8f46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3fd4e64784f25" /><Relationship Type="http://schemas.openxmlformats.org/officeDocument/2006/relationships/image" Target="/ppt/media/image.png" Id="R5310d03d1ae843ac" /><Relationship Type="http://schemas.openxmlformats.org/officeDocument/2006/relationships/notesSlide" Target="/ppt/notesSlides/notesSlide3.xml" Id="R496f1c18da0f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1026e7a14ed5" /><Relationship Type="http://schemas.openxmlformats.org/officeDocument/2006/relationships/image" Target="/ppt/media/image2.png" Id="R0a68c2b25eb24c31" /><Relationship Type="http://schemas.openxmlformats.org/officeDocument/2006/relationships/notesSlide" Target="/ppt/notesSlides/notesSlide4.xml" Id="Rb5f56ba1f3a048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40a82195640fc" /><Relationship Type="http://schemas.openxmlformats.org/officeDocument/2006/relationships/image" Target="/ppt/media/image3.png" Id="R359af7e3b77c4f7f" /><Relationship Type="http://schemas.openxmlformats.org/officeDocument/2006/relationships/notesSlide" Target="/ppt/notesSlides/notesSlide5.xml" Id="R8c22b414ff24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404f74bb34d3c" /><Relationship Type="http://schemas.openxmlformats.org/officeDocument/2006/relationships/image" Target="/ppt/media/image4.png" Id="Raf8559efa90c4e5a" /><Relationship Type="http://schemas.openxmlformats.org/officeDocument/2006/relationships/notesSlide" Target="/ppt/notesSlides/notesSlide6.xml" Id="Rc74052159e72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37c8545744cf8" /><Relationship Type="http://schemas.openxmlformats.org/officeDocument/2006/relationships/image" Target="/ppt/media/image5.png" Id="R8aeba034e81f4746" /><Relationship Type="http://schemas.openxmlformats.org/officeDocument/2006/relationships/notesSlide" Target="/ppt/notesSlides/notesSlide7.xml" Id="Rf0547bd6699c4c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dca18e8bc4ff6" /><Relationship Type="http://schemas.openxmlformats.org/officeDocument/2006/relationships/image" Target="/ppt/media/image6.png" Id="R1b6c851352194732" /><Relationship Type="http://schemas.openxmlformats.org/officeDocument/2006/relationships/notesSlide" Target="/ppt/notesSlides/notesSlide8.xml" Id="Rfc2a5bd6e78e4a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8634d86b848ae" /><Relationship Type="http://schemas.openxmlformats.org/officeDocument/2006/relationships/image" Target="/ppt/media/image7.png" Id="R89ea981dbd33445f" /><Relationship Type="http://schemas.openxmlformats.org/officeDocument/2006/relationships/notesSlide" Target="/ppt/notesSlides/notesSlide9.xml" Id="R642fe5b6b8ea48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e94a4308c487f" /><Relationship Type="http://schemas.openxmlformats.org/officeDocument/2006/relationships/image" Target="/ppt/media/image8.png" Id="R0f373cffdb624136" /><Relationship Type="http://schemas.openxmlformats.org/officeDocument/2006/relationships/notesSlide" Target="/ppt/notesSlides/notesSlide10.xml" Id="R3e1d8485047247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9c4ee65d243d4" /><Relationship Type="http://schemas.openxmlformats.org/officeDocument/2006/relationships/image" Target="/ppt/media/image9.png" Id="Rbd76c9a2a9834789" /><Relationship Type="http://schemas.openxmlformats.org/officeDocument/2006/relationships/notesSlide" Target="/ppt/notesSlides/notesSlide11.xml" Id="R82913bf8ecc14e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3ef25de844995" /><Relationship Type="http://schemas.openxmlformats.org/officeDocument/2006/relationships/image" Target="/ppt/media/image10.png" Id="R1409987939ae4a97" /><Relationship Type="http://schemas.openxmlformats.org/officeDocument/2006/relationships/image" Target="/ppt/media/image11.png" Id="Ref7a48f9f7f349b6" /><Relationship Type="http://schemas.openxmlformats.org/officeDocument/2006/relationships/notesSlide" Target="/ppt/notesSlides/notesSlide12.xml" Id="R3fafe5cba5f54e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abb3dc93c4d2e" /><Relationship Type="http://schemas.openxmlformats.org/officeDocument/2006/relationships/image" Target="/ppt/media/image12.png" Id="Racf511e8ac6c45ac" /><Relationship Type="http://schemas.openxmlformats.org/officeDocument/2006/relationships/image" Target="/ppt/media/image13.png" Id="Rd26dd3fe81a24d4b" /><Relationship Type="http://schemas.openxmlformats.org/officeDocument/2006/relationships/notesSlide" Target="/ppt/notesSlides/notesSlide13.xml" Id="R052d7b23abcb45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a83a6023e4f8d" /><Relationship Type="http://schemas.openxmlformats.org/officeDocument/2006/relationships/image" Target="/ppt/media/image14.png" Id="R1a481dc05b964e83" /><Relationship Type="http://schemas.openxmlformats.org/officeDocument/2006/relationships/notesSlide" Target="/ppt/notesSlides/notesSlide14.xml" Id="Ra76e543b521047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8d105dbf34efd" /><Relationship Type="http://schemas.openxmlformats.org/officeDocument/2006/relationships/image" Target="/ppt/media/image15.png" Id="R794ce23cd2c14da2" /><Relationship Type="http://schemas.openxmlformats.org/officeDocument/2006/relationships/notesSlide" Target="/ppt/notesSlides/notesSlide15.xml" Id="R3bd9ac97b2c542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AE8A1-00E9-44BA-8631-44CFADA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RansomUtilFactory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80166-C792-4C37-87C2-4A11996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 제어와 프로세스 제어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8109E-F18E-458F-9D82-7AA6C15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76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rPr>
              <a:t>Windows 커널 드라이버 개발 포트폴리오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2D7B7-B02D-4A2C-821D-9BD32AE0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624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rPr>
              <a:t>동작 화면 · 버튼별 기능 · 실행 로그 해설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4BBC5-2CD2-4E66-9189-35849DEC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625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rPr>
              <a:t>Windows 11 Hyper-V VM</a:t>
            </a:r>
          </a:p>
          <a:p xmlns:a="http://schemas.openxmlformats.org/drawingml/2006/main">
            <a:pPr>
              <a:defRPr sz="172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C3D8EC"/>
                </a:solidFill>
                <a:latin typeface="Malgun Gothic"/>
                <a:ea typeface="Malgun Gothic"/>
                <a:cs typeface="Malgun Gothic"/>
              </a:rPr>
              <a:t>2026.09.10 실행 캡처 기준</a:t>
            </a:r>
          </a:p>
        </p:txBody>
      </p:sp>
    </p:spTree>
    <p:extLst>
      <p:ext uri="{BB962C8B-B14F-4D97-AF65-F5344CB8AC3E}">
        <p14:creationId xmlns:p14="http://schemas.microsoft.com/office/powerpoint/2010/main" val="1591326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94A69-2735-435F-A70B-A9E9EDE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두 드라이버의 역할과 통신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F5C84-7477-46AB-8742-00D8533D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같은 UI에서 정책을 관리하되, 파일 접근과 프로세스 실행은 별도로 제어합니다.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7B283-D3E7-4E11-BFD7-4E1A645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30E4E-FBF6-4C94-B843-1ECAFDB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사용자 인터페이스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B1490-D553-4241-83ED-F78A66E2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RansomUtilFactory.UI에서 정책을 편집하고 적용합니다.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각 드라이버의 연결 상태와 이벤트를 따로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13662-5B85-4DC8-8FD7-F4CED746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813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제어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B8E2B-B8B1-456A-8FBF-5C48D80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uf_fltwarp.dll과 필터 관리자 통신 포트를 사용합니다.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UF_FileFilterFactory가 폴더 접근을 감시하거나 권한에 따라 차단합니다.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0AE95-3D3F-4363-8A5A-49BEF4D8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862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제어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C5A4D-8E36-44F9-843C-091FE45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uf_procwarp.dll과 DeviceIoControl을 사용합니다.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UF_ProcessFilterFactory가 프로세스 생성 시 정책을 판정합니다.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9784D-4632-46A8-B947-EAB95FB8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8647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이 문서는 제공된 UI 기능과 캡처 결과를 설명하며, 성능 수치나 전체 보안 검증을 주장하지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55714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2C2BF-2604-441F-B906-6C6562B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공통 영역: 드라이버 연결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666A1-A7E0-458D-A7EE-F6C8B9D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두 초록색 표시등은 각각의 통신 연결 상태를 나타냅니다. 정책 적용 여부는 탭 안에서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59689-4407-4D94-A7D4-5EA02213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799D7-3481-4629-8C15-8426594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필터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EEC5D-CCAB-47A0-BA80-EA58777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242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설치된 파일 드라이버를 로드하고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통신 연결과 이벤트 수신을 시작합니다.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2F2CE-E869-4EFB-ADCB-E74B3E9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337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필터 연결 해제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EB64-5229-4191-AB7C-6A4D9973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242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이벤트 수신을 중지하고 통신을 닫습니다.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 제거 또는 정책 초기화와 다릅니다.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9AC05-C9B3-4B6C-9456-DA88FC3F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필터 로드·연결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8495B-8D87-4109-858A-7E3A49F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설치된 프로세스 드라이버를 로드하고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이벤트 수신과 코드 서명 질의 처리를 시작합니다.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C0F17-D9E0-4040-9C50-21F5389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필터 연결 해제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538E6-D4F8-42F5-A9BD-4E66A276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863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통신을 닫고 UI 실행 로그를 초기화합니다.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 제거 버튼은 별도로 제공됩니다.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B38C9-3841-4A59-A4E2-EA506A3B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00750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파일 제어 / 프로세스 제어 탭: 표시할 정책 화면을 전환합니다. 두 드라이버를 동시에 연결할 수 있습니다.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0d03d1ae843ac"/>
          <a:stretch xmlns:a="http://schemas.openxmlformats.org/drawingml/2006/main"/>
        </p:blipFill>
        <p:spPr>
          <a:xfrm xmlns:a="http://schemas.openxmlformats.org/drawingml/2006/main">
            <a:off x="476250" y="1447800"/>
            <a:ext cx="11239500" cy="10601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16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7AB14-4E12-4E14-A1C7-C9A55F1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제어: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086CF-CD6B-4CC5-96B4-99D04069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감시 폴더와 보호 폴더를 따로 등록하고, 보호 폴더별 허용 프로그램을 지정합니다.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9D0D5-F0EA-45BC-99BA-59EF472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FDAA8-B03A-492D-9CA5-F4066115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감시 대상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89979-6700-4908-B5D1-86D81A54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145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C:\MonitorDir 1개를 등록했습니다.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감시 정책은 해당 경로의 접근 이벤트를 기록합니다.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5A398-631D-418D-ADE5-513BAFC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보호 대상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D326D-92D4-4A0F-94DD-B002403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861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C:\ProtectDir 1개를 등록했습니다.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허용 프로그램은 notepad.exe입니다.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199C3-0206-4CC6-8DFB-8A556068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현재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5A61-9E10-40EA-9C6D-811AD12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577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상태: 감시 1개, 보호 1개 적용 완료.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로그에서 차단과 감시 행을 확인할 수 있습니다.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8c2b25eb24c31"/>
          <a:stretch xmlns:a="http://schemas.openxmlformats.org/drawingml/2006/main"/>
        </p:blipFill>
        <p:spPr>
          <a:xfrm xmlns:a="http://schemas.openxmlformats.org/drawingml/2006/main">
            <a:off x="476250" y="1381125"/>
            <a:ext cx="5334000" cy="48365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1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EEF65-08D6-4066-86F5-155E0545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제어: 감시 폴더 등록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1801C-33AF-431B-A885-E0DA679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등록 목록의 변경은 편집 상태입니다. 정책 적용을 눌러야 드라이버에 반영합니다.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192F6-221E-40E5-A05E-7CB70C73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712F5-4202-41DD-A5E3-215C3C2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8115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폴더 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AA4F-E12D-4907-8A1B-CAF07F40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716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폴더 선택창에서 감시할 경로를 고릅니다.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같은 경로의 중복 등록은 막습니다.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78711-AD05-4939-8B5F-F66CF87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선택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EF28F-5E92-49CD-AAC6-73E0446C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337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선택한 감시 폴더를 편집 목록에서 뺍니다.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변경한 목록은 정책 적용으로 반영합니다.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E9EB-6649-4DEA-BCA3-93A1A78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1487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캡처의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B58D3-926E-4ECB-9C31-6F7854C1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C:\MonitorDir 아래 접근을 관찰합니다.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감시 정책 자체는 접근을 차단하지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91095-0E58-4B06-942C-E26B973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76950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화면에 보이는 로그의 대상은 ProtectDir입니다. MonitorDir 접근 성공 사례는 이 캡처만으로 확인할 수 없습니다.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af7e3b77c4f7f"/>
          <a:stretch xmlns:a="http://schemas.openxmlformats.org/drawingml/2006/main"/>
        </p:blipFill>
        <p:spPr>
          <a:xfrm xmlns:a="http://schemas.openxmlformats.org/drawingml/2006/main">
            <a:off x="476250" y="1428750"/>
            <a:ext cx="6524625" cy="42242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48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D1E43-6804-478A-9052-0E777E24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제어: 보호 폴더와 허용 프로그램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415D2-1C27-4824-B228-D884BD1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선택한 보호 폴더마다 허용 프로그램 목록을 따로 구성합니다.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ADCC-AC75-4A1E-8A7A-21FD4AC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1FED3-7E64-4459-A1DA-2391028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폴더 추가 / 선택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88530-E8C6-443F-BD1C-8873ACB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145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보호할 폴더를 추가하거나 선택한 폴더를 뺍니다.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캡처에서는 C:\ProtectDir을 선택했습니다.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8EB21-EC06-4744-BA58-AE20062A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프로그램 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21868-CD79-4712-815E-947E540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선택한 보호 폴더에 접근을 허용할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실행 파일을 선택합니다.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DF726-A1A0-42DE-9A3D-B15DD6B5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선택 제거 [프로그램 영역]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EAEE7-4E21-4CC2-B4C4-79AD382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선택한 허용 프로그램을 목록에서 뺍니다.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폴더 제거 버튼과 적용 대상이 다릅니다.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95ABF-D68C-4071-A5F6-95F0B757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6742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폴더 또는 프로그램을 추가·제거한 후 정책 적용이 필요합니다. 허용 규칙에 맞지 않는 접근은 차단 대상입니다.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559efa90c4e5a"/>
          <a:stretch xmlns:a="http://schemas.openxmlformats.org/drawingml/2006/main"/>
        </p:blipFill>
        <p:spPr>
          <a:xfrm xmlns:a="http://schemas.openxmlformats.org/drawingml/2006/main">
            <a:off x="476250" y="1428750"/>
            <a:ext cx="6572250" cy="42660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10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C55DB-41EA-4481-B2C1-BB5917D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제어: 접근 권한과 비교 옵션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1E7C1-4887-4F80-94C6-21BAB1E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캡처의 설정은 notepad.exe에 읽기·쓰기를 허용하며, 코드 서명 검사는 끈 상태입니다.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F5080-DD6B-4787-8572-A73981E4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798E-03F9-4B1F-A52A-4C662E60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읽기 / 쓰기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AFEF6-D95E-45B2-9F3E-D64753AF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프로그램별 접근 권한을 설정합니다.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둘 다 해제한 허용 규칙은 적용할 수 없습니다.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F6078-3660-401B-8582-8A5F6EC7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코드 서명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E5F20-B37D-47ED-B150-CC83D38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체크하면 서명 신뢰 확인을 사용합니다.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캡처에서는 체크하지 않아 검증을 요구하지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D001-998A-40E8-8046-0FAF743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이름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E50A7-6203-4590-BD62-BD3BF9D1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실행 파일의 이름으로 비교합니다.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 경로가 달라도 같은 이름이면 후보가 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DD752-3290-421C-B460-BEBDE61F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910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전체 경로 [비교 방식 선택]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2985E-145B-4DA7-9F6D-3FDD51EB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8157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실행 파일의 전체 경로로 비교합니다.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이름만 같은 다른 위치의 파일과 구분합니다.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02117-3CA1-4B90-852E-FFE15CF6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76950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C:\Windows\notepad.exe를 선택했어도, 캡처의 비교 방식은 “프로세스 이름”입니다.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ba034e81f4746"/>
          <a:stretch xmlns:a="http://schemas.openxmlformats.org/drawingml/2006/main"/>
        </p:blipFill>
        <p:spPr>
          <a:xfrm xmlns:a="http://schemas.openxmlformats.org/drawingml/2006/main">
            <a:off x="476250" y="1504950"/>
            <a:ext cx="11239500" cy="10892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29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5E864-78E2-407D-9203-C5EBDBD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제어: 설치와 정책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2AF1F-47B5-4268-819B-EF0C1A39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드라이버 연결, 정책 적용, 화면 로그 초기화는 서로 다른 작업입니다.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19D41-945F-426B-BE23-2ED5FF45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F33F1-86E0-4E8D-A73A-6667A416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필터 설치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C0CC-069E-4CA4-8895-8A92CE4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 설치·로드를 수행하고 통신 연결을 시도합니다.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설치와 로드는 시험용 VM에서 수행합니다.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D5AB9-17CC-4750-826F-1B637E7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765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필터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7BDBE-51B7-4760-9109-FC887B8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670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정책 초기화를 시도한 뒤 연결을 닫고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 제거를 요청합니다.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82F71-029F-4744-B5B6-79073D9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정책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E246-3490-436C-9923-390D259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감시·보호 목록 전체를 드라이버에 전송합니다.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캡처의 완료 문구: 감시 1개, 보호 1개.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2F329-E205-4433-BD25-8CD0A2A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정책 초기화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F1922-2AA8-46F3-9552-0E3481F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드라이버에 적용한 파일 정책을 비웁니다.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UI에 편집 중인 폴더 목록은 유지합니다.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BB5E-744C-49F6-A15D-69304C31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로그 지우기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F4B9B-3A0E-4B4B-9714-E79B46BC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6102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화면의 파일 이벤트 목록만 지웁니다. 적용한 정책은 유지합니다.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851352194732"/>
          <a:stretch xmlns:a="http://schemas.openxmlformats.org/drawingml/2006/main"/>
        </p:blipFill>
        <p:spPr>
          <a:xfrm xmlns:a="http://schemas.openxmlformats.org/drawingml/2006/main">
            <a:off x="476250" y="1428750"/>
            <a:ext cx="11239500" cy="8974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9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1EFF8-2277-480D-9A00-E1E36447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로그: 각 열과 결과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684A-AF39-471E-A299-5A4A64C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한 행은 파일 I/O 이벤트입니다. 한 번의 사용자 동작에서도 여러 행이 발생할 수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A1506-6016-429F-BEC0-BBE0A97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C537E-45BA-49F3-AA11-D6BCEE6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시각 / PID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425A-867D-4FBA-83B3-162E26B9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시각은 UI가 이벤트를 받은 현지 시간입니다.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PID는 해당 접근을 요청한 프로세스의 식별자입니다.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8A41-5654-4C9F-A49F-27D9631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99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/ 파일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A565D-D549-41AF-B40C-D4838DC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04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접근 주체의 이미지 경로와 접근 대상 경로입니다.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캡처에는 커널 형식의 \Device\... 경로가 보입니다.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3C78E-D0FB-49C0-A114-C908E942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구분: 차단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E0CCF-9A34-44F2-BE8F-EB56FD7C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드라이버가 정책에 따라 접근을 거부한 이벤트입니다.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전체 프로그램 종료나 모든 작업 실패를 뜻하지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90F78-12A1-4A82-80C6-1924DA77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구분: 감시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966DD-A5AC-460A-8A00-8963AFA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86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감시 폴더 접근과 보호 폴더의 허용 접근에 표시합니다.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“감시”라는 표기만으로 감시 폴더 접근이라 단정하지 않습니다.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a981dbd33445f"/>
          <a:stretch xmlns:a="http://schemas.openxmlformats.org/drawingml/2006/main"/>
        </p:blipFill>
        <p:spPr>
          <a:xfrm xmlns:a="http://schemas.openxmlformats.org/drawingml/2006/main">
            <a:off x="476250" y="1457325"/>
            <a:ext cx="11239500" cy="13362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0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A8BCF-57E5-4345-8136-0406650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파일 로그: 캡처에 보이는 행 해설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0137E-271F-43C5-A2B9-51D8973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2026-09-10 02:54:56~59 구간. 아래 행 번호는 캡처의 맨 위 데이터 행부터 셉니다.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E770C-A98D-4D53-816D-657FCFD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1B118-98BC-4C06-9897-CA2D8777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642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5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C3535"/>
                </a:solidFill>
                <a:latin typeface="Malgun Gothic"/>
                <a:ea typeface="Malgun Gothic"/>
                <a:cs typeface="Malgun Gothic"/>
              </a:rPr>
              <a:t>1~6행  차단 / PID 6204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23558-9545-4611-B9C5-F6BEEF8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33575"/>
            <a:ext cx="642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02:54:59.835  3건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02:54:59.832  2건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02:54:59.818  1건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ProtectDir과 sdfsdf.txt 접근을 거부했습니다.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7E88F-4095-4BF1-8870-35E2325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642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5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7545"/>
                </a:solidFill>
                <a:latin typeface="Malgun Gothic"/>
                <a:ea typeface="Malgun Gothic"/>
                <a:cs typeface="Malgun Gothic"/>
              </a:rPr>
              <a:t>7~15행  감시 / PID 6364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EF909-EB88-4E6C-A595-2ADBB11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64293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02:54:59.817  4건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02:54:58.507  3건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02:54:56.103  2행 표시*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ProtectDir 접근을 관찰했습니다.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FDFD4-780D-443F-9057-C2BAD5B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642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PID 6364는 프로세스 캡처의 Notepad.exe와 같습니다.</a:t>
            </a:r>
          </a:p>
          <a:p xmlns:a="http://schemas.openxmlformats.org/drawingml/2006/main">
            <a:pPr>
              <a:defRPr sz="1650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허용한 메모장의 보호 폴더 접근 기록으로 해석할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3D699-4F5B-4E8E-86E0-2B55435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38850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* 마지막 행은 아래쪽이 잘려 있습니다. PID 6204의 전체 실행 경로와 읽기·쓰기 구분은 캡처만으로 확정할 수 없습니다.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73cffdb624136"/>
          <a:stretch xmlns:a="http://schemas.openxmlformats.org/drawingml/2006/main"/>
        </p:blipFill>
        <p:spPr>
          <a:xfrm xmlns:a="http://schemas.openxmlformats.org/drawingml/2006/main">
            <a:off x="476250" y="1438275"/>
            <a:ext cx="4286250" cy="44828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636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30988-309B-4ABD-BE39-D1910247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제어: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65EAF-A76D-42D1-88CF-467F6C48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정책에 등록한 프로세스의 생성 시점에 실행 조건을 판단합니다.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87466-92BC-43E9-803E-6C6437C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3F77F-BC8C-4E8A-B3EF-02260D53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현재 정책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0DCC0-0A98-4293-9DF6-E8DDC27F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145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규칙 ID 1, 파일 이름 notepad.exe.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코드 서명 필요 옵션을 켰습니다.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F52FF-6BD2-4FCB-9B50-2BB2B993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적용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71334-7C5E-4172-A10C-B9D26F59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861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실행 허용 정책 1개를 적용했습니다.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적용 성공 이후의 실행부터 로그를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FB9AE-5323-44FA-B7DA-1158CB70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현재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1DD65-7131-42A1-AB92-1D81CAF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577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Notepad.exe 실행 통과 3건을 확인했습니다.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서로 다른 PID로 여러 실행 인스턴스를 구분합니다.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6c9a2a9834789"/>
          <a:stretch xmlns:a="http://schemas.openxmlformats.org/drawingml/2006/main"/>
        </p:blipFill>
        <p:spPr>
          <a:xfrm xmlns:a="http://schemas.openxmlformats.org/drawingml/2006/main">
            <a:off x="476250" y="1381125"/>
            <a:ext cx="5334000" cy="48365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07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9E0F3-AF63-4F90-A1BD-603EE959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제어: 실행 정책 편집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493D4-165B-48F0-95A4-928A605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동일한 프로세스 이름은 하나의 정책으로 관리하며, 새로 추가한 규칙으로 교체합니다.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2A1E4-A5E6-4C0E-9EEE-C6BF1DD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91518-BCC8-4F35-97E7-67CE0ED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전체 경로 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7A3FF-99F0-404C-95F3-CB35206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실행 파일의 이름과 전체 경로를 저장합니다.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같은 이름의 프로세스라도 경로가 다르면 차단합니다.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ACBB7-0869-46A1-9941-8EA40D63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파일 이름 추가 / 선택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FE811-63D4-429B-81EE-2ED6C887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이름만 비교하는 규칙을 추가하거나 선택한 규칙을 뺍니다.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실제 변경은 정책 적용을 누른 후 반영합니다.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6B253-A5E2-415C-BC40-BAB4D231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규칙 ID / 비교 방식 / 실행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BF101-E60F-47E6-9B6A-CEC009B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ID는 규칙 식별 값입니다. 나머지 두 열에서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비교 방식과 대상 이름 또는 경로를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7F9F6-59B6-49EF-8ECE-FD65AD5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코드 서명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4969F-D5C0-4C17-A0F9-CEF9E506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86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체크한 규칙은 사용자 모드의 서명 검증을 요구합니다.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검증 실패, 응답 클라이언트 없음, 시간 초과 시 차단합니다.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9987939ae4a97"/>
          <a:stretch xmlns:a="http://schemas.openxmlformats.org/drawingml/2006/main"/>
        </p:blipFill>
        <p:spPr>
          <a:xfrm xmlns:a="http://schemas.openxmlformats.org/drawingml/2006/main">
            <a:off x="476250" y="1409700"/>
            <a:ext cx="11239500" cy="49629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a48f9f7f349b6"/>
          <a:stretch xmlns:a="http://schemas.openxmlformats.org/drawingml/2006/main"/>
        </p:blipFill>
        <p:spPr>
          <a:xfrm xmlns:a="http://schemas.openxmlformats.org/drawingml/2006/main">
            <a:off x="476250" y="2162175"/>
            <a:ext cx="7334250" cy="4701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802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DFD8F-A336-43D6-BB85-967337F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제어: 정책 적용과 로그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EEA44-B618-4F85-BAC8-77E3FA6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정책 목록에 추가하기만 한 프로세스는 실행 로그의 표시 대상에 포함하지 않습니다.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BFB3F-1689-4E5A-9694-654920B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84334-09F1-44C2-AB75-BDC9EEE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정책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EAE90-E8B5-4198-88D1-3B2B1E3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현재 편집 목록을 드라이버의 정책으로 교체합니다.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성공한 정책에 해당하는 이후 실행만 UI에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2A92C-0384-4187-B270-F7A9766C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481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정책 초기화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75298-82CA-480E-807A-C274386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386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드라이버 정책과 UI의 적용 기준·실행 로그를 비웁니다.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다시 적용할 때까지 실행 로그 표시를 중지합니다.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37659-4F59-4A06-82E2-CCC7021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로그 지우기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2E4C2-000C-4725-B21D-D08BF62A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05450"/>
            <a:ext cx="919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화면 로그와 대기 중인 표시 항목을 지웁니다. 정책은 유지하므로 다음 실행은 다시 기록합니다.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511e8ac6c45ac"/>
          <a:stretch xmlns:a="http://schemas.openxmlformats.org/drawingml/2006/main"/>
        </p:blipFill>
        <p:spPr>
          <a:xfrm xmlns:a="http://schemas.openxmlformats.org/drawingml/2006/main">
            <a:off x="476250" y="1524000"/>
            <a:ext cx="4905375" cy="857583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dd3fe81a24d4b"/>
          <a:stretch xmlns:a="http://schemas.openxmlformats.org/drawingml/2006/main"/>
        </p:blipFill>
        <p:spPr>
          <a:xfrm xmlns:a="http://schemas.openxmlformats.org/drawingml/2006/main">
            <a:off x="476250" y="2724150"/>
            <a:ext cx="11239500" cy="3634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75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DA1BB-AA43-46E0-8738-9ABD97E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제어: 드라이버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40303-7ADE-453E-B186-5FF4728A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상단의 연결 버튼과 탭 내부의 연결 버튼은 같은 프로세스 드라이버를 제어합니다.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54ED5-171A-475C-BFA4-101A90C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B98FD-9BA1-4ACB-9CCA-CBB313F6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제어 필터 설치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36A03-16BE-4274-A9BD-6546805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설치·로드 후 통신과 이벤트 수신을 확인합니다.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설치 성공과 통신 연결 실패를 구분해 안내합니다.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B8FEC-E05C-4BFB-84C5-90BDBEF4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필터 로드·연결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1C966-080B-4572-A831-422726A7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5277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이미 설치한 드라이버를 로드하고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통신 및 이벤트 수신을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05DFC-1038-42F0-AF39-7C43DC6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719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필터 연결 해제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F37FC-7820-408A-BE9E-C4451AB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통신을 닫고 현재 UI의 로그 표시 기준을 초기화합니다.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연결 해제는 드라이버 제거와 다릅니다.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3974C-9FF3-425C-B3B9-3F5C4C17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프로세스 제어 필터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F6C8A-506F-4D82-BCBA-34394F6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정책 초기화를 시도한 뒤 연결을 닫고 제거합니다.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결과 메시지에서 실패 여부와 오류 코드를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7EF38-86B8-49FE-960B-AB725A2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38850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서명 확인이 필요한 정책을 유지한 채 클라이언트를 끊으면 이후 해당 프로세스 실행을 차단할 수 있습니다.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81dc05b964e83"/>
          <a:stretch xmlns:a="http://schemas.openxmlformats.org/drawingml/2006/main"/>
        </p:blipFill>
        <p:spPr>
          <a:xfrm xmlns:a="http://schemas.openxmlformats.org/drawingml/2006/main">
            <a:off x="476250" y="1524000"/>
            <a:ext cx="11239500" cy="4416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71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48D2E-1D52-436F-A2FC-49FAF2D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프로세스 로그: 실행 통과 3건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BD2C-B965-4E74-9826-3FD7A60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동일한 이름의 프로그램도 PID가 다르면 별도의 실행으로 기록합니다.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D9EE8-6585-468B-B2FA-07D155F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E27FD-218B-4FB9-BE39-520BEBD5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1109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시각: 커널 이벤트의 현지 시간    프로세스명: 이미지 파일명    실행 결과: 통과 또는 차단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29885-1B4D-4C98-9693-87C3D0A9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1109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PID: 실행 인스턴스 식별자    실행 파일 경로: 커널에서 수집한 실제 이미지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01F57-0ADF-48FE-80DC-5FD99DD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1행  02:54:34.096 / PID 6364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1759C-580D-4AB5-AAF6-8D77517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Notepad.exe 실행 통과. 파일 로그의 PID 6364와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대조해 동일 인스턴스의 접근 기록을 확인할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42F4C-B785-4733-8D03-B9257799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623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2행  02:54:34.001 / PID 9328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52370-3640-4E39-BBB7-0DB8E5A6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529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Notepad.exe 실행 통과. 이름이 같아도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PID 6364와는 별도 실행입니다.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9B83A-B1A3-4693-BC95-F845E7E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5C97"/>
                </a:solidFill>
                <a:latin typeface="Malgun Gothic"/>
                <a:ea typeface="Malgun Gothic"/>
                <a:cs typeface="Malgun Gothic"/>
              </a:rPr>
              <a:t>3행  02:51:23.829 / PID 10780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29931-AE4D-4112-B136-74174631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앞서 실행한 Notepad.exe의 통과 기록입니다.</a:t>
            </a:r>
          </a:p>
          <a:p xmlns:a="http://schemas.openxmlformats.org/drawingml/2006/main">
            <a:pPr>
              <a:def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2"/>
                </a:solidFill>
                <a:latin typeface="Malgun Gothic"/>
                <a:ea typeface="Malgun Gothic"/>
                <a:cs typeface="Malgun Gothic"/>
              </a:rPr>
              <a:t>위쪽 두 행보다 이전 시각입니다.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1CB05-C812-422E-96EF-E9A445C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통과: 실행 조건 충족, 실행 허용.</a:t>
            </a:r>
          </a:p>
          <a:p xmlns:a="http://schemas.openxmlformats.org/drawingml/2006/main">
            <a:pPr>
              <a:def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차단: 실행 조건 불충족, 생성 거부.</a:t>
            </a:r>
          </a:p>
          <a:p xmlns:a="http://schemas.openxmlformats.org/drawingml/2006/main">
            <a:pPr>
              <a:def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캡처에는 통과 3건만 보입니다.</a:t>
            </a:r>
          </a:p>
          <a:p xmlns:a="http://schemas.openxmlformats.org/drawingml/2006/main">
            <a:pPr>
              <a:def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778"/>
                </a:solidFill>
                <a:latin typeface="Malgun Gothic"/>
                <a:ea typeface="Malgun Gothic"/>
                <a:cs typeface="Malgun Gothic"/>
              </a:rPr>
              <a:t>미등록 실행·종료·접근 로그는 제외합니다.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e23cd2c14da2"/>
          <a:stretch xmlns:a="http://schemas.openxmlformats.org/drawingml/2006/main"/>
        </p:blipFill>
        <p:spPr>
          <a:xfrm xmlns:a="http://schemas.openxmlformats.org/drawingml/2006/main">
            <a:off x="476250" y="1447800"/>
            <a:ext cx="11239500" cy="89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6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2026-09-09T18:15:04.4930000Z</dcterms:created>
  <dcterms:modified xsi:type="dcterms:W3CDTF">2026-09-09T18:15:04.4930000Z</dcterms:modified>
</coreProperties>
</file>